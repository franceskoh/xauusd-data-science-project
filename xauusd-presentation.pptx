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ptos Narrow" panose="020B0004020202020204" pitchFamily="34" charset="0"/>
      <p:regular r:id="rId13"/>
      <p:bold r:id="rId14"/>
      <p:italic r:id="rId15"/>
      <p:boldItalic r:id="rId16"/>
    </p:embeddedFont>
    <p:embeddedFont>
      <p:font typeface="Open Sauce" panose="020B0604020202020204" charset="0"/>
      <p:regular r:id="rId17"/>
    </p:embeddedFont>
    <p:embeddedFont>
      <p:font typeface="Open Sauce Bold" panose="020B0604020202020204" charset="0"/>
      <p:regular r:id="rId18"/>
    </p:embeddedFont>
    <p:embeddedFont>
      <p:font typeface="Pragmatica" panose="020B0604020202020204" charset="0"/>
      <p:regular r:id="rId19"/>
    </p:embeddedFont>
    <p:embeddedFont>
      <p:font typeface="Pragmatica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9" d="100"/>
          <a:sy n="49" d="100"/>
        </p:scale>
        <p:origin x="1042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723C50-570B-9DCC-F21A-FD3FDBD494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28D78-0869-7CD1-BE74-FB5FA3B70E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16E90-4336-4F5C-AF15-3CF931D802CD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B38ED-7CB2-CB8B-A18E-01E5B93977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416B3-0B1C-6F5F-4699-AD53C9B8A5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E51CDE-CD82-421D-8E3E-3D35FA87B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6190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02148" y="5371640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516160" y="-3959080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6310346"/>
            <a:ext cx="14564269" cy="2019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760"/>
              </a:lnSpc>
            </a:pPr>
            <a:r>
              <a:rPr lang="en-US" sz="7200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DATA SCIENCE  I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169261"/>
            <a:ext cx="12857529" cy="1494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921"/>
              </a:lnSpc>
            </a:pPr>
            <a:r>
              <a:rPr lang="en-US" sz="6600" b="1" dirty="0">
                <a:solidFill>
                  <a:srgbClr val="0B0027"/>
                </a:solidFill>
                <a:latin typeface="Pragmatica"/>
                <a:ea typeface="Pragmatica"/>
                <a:cs typeface="Pragmatica"/>
                <a:sym typeface="Pragmatica"/>
              </a:rPr>
              <a:t>ANALYSIS OF GOLD (XAUUSD)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25083" y="981075"/>
            <a:ext cx="2934217" cy="40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399" b="1" dirty="0">
                <a:solidFill>
                  <a:srgbClr val="0B00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6603" y="8760406"/>
            <a:ext cx="13483830" cy="102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3200" b="0" i="0" dirty="0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The purpose of this project was to analyze historical gold price data and apply data science and machine learning techniques to predict future market direction.</a:t>
            </a:r>
            <a:endParaRPr lang="en-US" sz="2900" spc="89" dirty="0">
              <a:solidFill>
                <a:srgbClr val="0B0027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800153" y="1348795"/>
            <a:ext cx="2459147" cy="29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Francesko Hasipi</a:t>
            </a:r>
            <a:endParaRPr lang="en-US" sz="1800" dirty="0">
              <a:solidFill>
                <a:srgbClr val="0B0027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68844" y="1054087"/>
            <a:ext cx="2459147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Thu, May 28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2115555"/>
            <a:ext cx="3355885" cy="3027945"/>
            <a:chOff x="0" y="0"/>
            <a:chExt cx="519914" cy="4691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9914" cy="469108"/>
            </a:xfrm>
            <a:custGeom>
              <a:avLst/>
              <a:gdLst/>
              <a:ahLst/>
              <a:cxnLst/>
              <a:rect l="l" t="t" r="r" b="b"/>
              <a:pathLst>
                <a:path w="519914" h="469108">
                  <a:moveTo>
                    <a:pt x="0" y="0"/>
                  </a:moveTo>
                  <a:lnTo>
                    <a:pt x="519914" y="0"/>
                  </a:lnTo>
                  <a:lnTo>
                    <a:pt x="519914" y="469108"/>
                  </a:lnTo>
                  <a:lnTo>
                    <a:pt x="0" y="469108"/>
                  </a:lnTo>
                  <a:close/>
                </a:path>
              </a:pathLst>
            </a:custGeom>
            <a:blipFill>
              <a:blip r:embed="rId4"/>
              <a:stretch>
                <a:fillRect l="-17609" r="-1760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598370" y="2115555"/>
            <a:ext cx="5337023" cy="3027945"/>
            <a:chOff x="0" y="0"/>
            <a:chExt cx="826845" cy="4691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6844" cy="469108"/>
            </a:xfrm>
            <a:custGeom>
              <a:avLst/>
              <a:gdLst/>
              <a:ahLst/>
              <a:cxnLst/>
              <a:rect l="l" t="t" r="r" b="b"/>
              <a:pathLst>
                <a:path w="826844" h="469108">
                  <a:moveTo>
                    <a:pt x="0" y="0"/>
                  </a:moveTo>
                  <a:lnTo>
                    <a:pt x="826844" y="0"/>
                  </a:lnTo>
                  <a:lnTo>
                    <a:pt x="826844" y="469108"/>
                  </a:lnTo>
                  <a:lnTo>
                    <a:pt x="0" y="469108"/>
                  </a:lnTo>
                  <a:close/>
                </a:path>
              </a:pathLst>
            </a:custGeom>
            <a:blipFill>
              <a:blip r:embed="rId5"/>
              <a:stretch>
                <a:fillRect t="-82074" b="-8207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28700" y="7089297"/>
            <a:ext cx="8906693" cy="26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9"/>
              </a:lnSpc>
            </a:pPr>
            <a:r>
              <a:rPr lang="en-US" sz="10377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PROJECT</a:t>
            </a:r>
          </a:p>
          <a:p>
            <a:pPr algn="l">
              <a:lnSpc>
                <a:spcPts val="9859"/>
              </a:lnSpc>
            </a:pPr>
            <a:r>
              <a:rPr lang="en-US" sz="10377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73811" y="2434228"/>
            <a:ext cx="7543800" cy="4034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This project combines financial market analysis with data science techniques.</a:t>
            </a:r>
          </a:p>
          <a:p>
            <a:pPr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project workflow included: </a:t>
            </a:r>
          </a:p>
          <a:p>
            <a:pPr marL="457200" indent="-457200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data preprocessing</a:t>
            </a:r>
          </a:p>
          <a:p>
            <a:pPr marL="457200" indent="-457200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feature engineering</a:t>
            </a:r>
          </a:p>
          <a:p>
            <a:pPr marL="457200" indent="-457200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exploratory data analysis</a:t>
            </a:r>
          </a:p>
          <a:p>
            <a:pPr marL="457200" indent="-457200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data visualization</a:t>
            </a:r>
          </a:p>
          <a:p>
            <a:pPr marL="457200" indent="-457200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machine learning classification.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73811" y="7089297"/>
            <a:ext cx="6655682" cy="956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final goal was to classify whether the next candle would be </a:t>
            </a:r>
            <a:r>
              <a:rPr lang="en-US" sz="1999" b="1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bullish</a:t>
            </a: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or </a:t>
            </a:r>
            <a:r>
              <a:rPr lang="en-US" sz="1999" b="1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bearish</a:t>
            </a: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2631388"/>
            <a:ext cx="5621602" cy="2713103"/>
            <a:chOff x="0" y="0"/>
            <a:chExt cx="870933" cy="420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0933" cy="420331"/>
            </a:xfrm>
            <a:custGeom>
              <a:avLst/>
              <a:gdLst/>
              <a:ahLst/>
              <a:cxnLst/>
              <a:rect l="l" t="t" r="r" b="b"/>
              <a:pathLst>
                <a:path w="870933" h="420331">
                  <a:moveTo>
                    <a:pt x="0" y="0"/>
                  </a:moveTo>
                  <a:lnTo>
                    <a:pt x="870933" y="0"/>
                  </a:lnTo>
                  <a:lnTo>
                    <a:pt x="870933" y="420331"/>
                  </a:lnTo>
                  <a:lnTo>
                    <a:pt x="0" y="420331"/>
                  </a:lnTo>
                  <a:close/>
                </a:path>
              </a:pathLst>
            </a:custGeom>
            <a:blipFill>
              <a:blip r:embed="rId4"/>
              <a:stretch>
                <a:fillRect t="-19130" b="-191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514283" y="7442308"/>
            <a:ext cx="5621602" cy="1815992"/>
            <a:chOff x="0" y="0"/>
            <a:chExt cx="870933" cy="2813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0933" cy="281345"/>
            </a:xfrm>
            <a:custGeom>
              <a:avLst/>
              <a:gdLst/>
              <a:ahLst/>
              <a:cxnLst/>
              <a:rect l="l" t="t" r="r" b="b"/>
              <a:pathLst>
                <a:path w="870933" h="281345">
                  <a:moveTo>
                    <a:pt x="0" y="0"/>
                  </a:moveTo>
                  <a:lnTo>
                    <a:pt x="870933" y="0"/>
                  </a:lnTo>
                  <a:lnTo>
                    <a:pt x="870933" y="281345"/>
                  </a:lnTo>
                  <a:lnTo>
                    <a:pt x="0" y="281345"/>
                  </a:lnTo>
                  <a:close/>
                </a:path>
              </a:pathLst>
            </a:custGeom>
            <a:blipFill>
              <a:blip r:embed="rId5"/>
              <a:stretch>
                <a:fillRect t="-52999" b="-5299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699383" y="2620987"/>
            <a:ext cx="9808051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THE 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74802" y="3728311"/>
            <a:ext cx="9461083" cy="1982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000" dirty="0">
                <a:latin typeface="Open Sauce" panose="020B0604020202020204" charset="0"/>
                <a:sym typeface="Open Sauce"/>
              </a:rPr>
              <a:t>The dataset was collected from Investing.com and contains historical XAUUSD market data. It contains approximately </a:t>
            </a:r>
            <a:r>
              <a:rPr lang="en-US" sz="2000" b="1" u="sng" dirty="0">
                <a:latin typeface="Open Sauce" panose="020B0604020202020204" charset="0"/>
                <a:sym typeface="Open Sauce"/>
              </a:rPr>
              <a:t>1300 rows</a:t>
            </a:r>
            <a:r>
              <a:rPr lang="en-US" sz="2000" b="1" dirty="0">
                <a:latin typeface="Open Sauce" panose="020B0604020202020204" charset="0"/>
                <a:sym typeface="Open Sauce"/>
              </a:rPr>
              <a:t> </a:t>
            </a:r>
            <a:r>
              <a:rPr lang="en-US" sz="2000" dirty="0">
                <a:latin typeface="Open Sauce" panose="020B0604020202020204" charset="0"/>
                <a:sym typeface="Open Sauce"/>
              </a:rPr>
              <a:t>of historical market information. Also includes historical XAUUSD market data from March 2020 to April 2026.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1053" y="6113985"/>
            <a:ext cx="8148771" cy="3008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original variables included: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Open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High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Low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Close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2012777"/>
            <a:ext cx="5146532" cy="3375112"/>
            <a:chOff x="0" y="0"/>
            <a:chExt cx="797333" cy="5228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7333" cy="522893"/>
            </a:xfrm>
            <a:custGeom>
              <a:avLst/>
              <a:gdLst/>
              <a:ahLst/>
              <a:cxnLst/>
              <a:rect l="l" t="t" r="r" b="b"/>
              <a:pathLst>
                <a:path w="797333" h="522893">
                  <a:moveTo>
                    <a:pt x="0" y="0"/>
                  </a:moveTo>
                  <a:lnTo>
                    <a:pt x="797333" y="0"/>
                  </a:lnTo>
                  <a:lnTo>
                    <a:pt x="797333" y="522893"/>
                  </a:lnTo>
                  <a:lnTo>
                    <a:pt x="0" y="522893"/>
                  </a:lnTo>
                  <a:close/>
                </a:path>
              </a:pathLst>
            </a:custGeom>
            <a:blipFill>
              <a:blip r:embed="rId4"/>
              <a:stretch>
                <a:fillRect l="-8684" r="-86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5883188"/>
            <a:ext cx="5146532" cy="3375112"/>
            <a:chOff x="0" y="0"/>
            <a:chExt cx="797333" cy="5228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97333" cy="522893"/>
            </a:xfrm>
            <a:custGeom>
              <a:avLst/>
              <a:gdLst/>
              <a:ahLst/>
              <a:cxnLst/>
              <a:rect l="l" t="t" r="r" b="b"/>
              <a:pathLst>
                <a:path w="797333" h="522893">
                  <a:moveTo>
                    <a:pt x="0" y="0"/>
                  </a:moveTo>
                  <a:lnTo>
                    <a:pt x="797333" y="0"/>
                  </a:lnTo>
                  <a:lnTo>
                    <a:pt x="797333" y="522893"/>
                  </a:lnTo>
                  <a:lnTo>
                    <a:pt x="0" y="522893"/>
                  </a:lnTo>
                  <a:close/>
                </a:path>
              </a:pathLst>
            </a:custGeom>
            <a:blipFill>
              <a:blip r:embed="rId5"/>
              <a:stretch>
                <a:fillRect t="-796" b="-79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097093" y="2247900"/>
            <a:ext cx="9480865" cy="99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15"/>
              </a:lnSpc>
            </a:pPr>
            <a:r>
              <a:rPr lang="en-US" sz="7700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DATA CLEANING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2358" y="3924301"/>
            <a:ext cx="9416050" cy="45473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0" lvl="1" algn="l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Before analysis, the dataset needed preprocessing. I performed several cleaning steps:</a:t>
            </a:r>
          </a:p>
          <a:p>
            <a:pPr marL="673100" lvl="1" indent="-457200" algn="l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Renaming columns</a:t>
            </a:r>
          </a:p>
          <a:p>
            <a:pPr marL="673100" lvl="1" indent="-457200" algn="l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Converting string values into numeric values</a:t>
            </a:r>
          </a:p>
          <a:p>
            <a:pPr marL="673100" lvl="1" indent="-457200" algn="l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Removing unnecessary symbols</a:t>
            </a:r>
          </a:p>
          <a:p>
            <a:pPr marL="673100" lvl="1" indent="-457200" algn="l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Cleaning volume data</a:t>
            </a:r>
          </a:p>
          <a:p>
            <a:pPr marL="673100" lvl="1" indent="-457200" algn="l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Removing missing values</a:t>
            </a:r>
          </a:p>
          <a:p>
            <a:pPr marL="215900" lvl="1" algn="l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These steps prepare the dataset for analysis.</a:t>
            </a:r>
            <a:endParaRPr lang="en-US" sz="2000" dirty="0"/>
          </a:p>
          <a:p>
            <a:pPr marL="215900" lvl="1" algn="l">
              <a:lnSpc>
                <a:spcPts val="3999"/>
              </a:lnSpc>
            </a:pPr>
            <a:endParaRPr lang="en-US" sz="1999" dirty="0">
              <a:solidFill>
                <a:srgbClr val="0B0027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067800" y="3238500"/>
            <a:ext cx="8955170" cy="2643878"/>
            <a:chOff x="0" y="0"/>
            <a:chExt cx="1387390" cy="4096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7390" cy="409606"/>
            </a:xfrm>
            <a:custGeom>
              <a:avLst/>
              <a:gdLst/>
              <a:ahLst/>
              <a:cxnLst/>
              <a:rect l="l" t="t" r="r" b="b"/>
              <a:pathLst>
                <a:path w="1387390" h="409606">
                  <a:moveTo>
                    <a:pt x="0" y="0"/>
                  </a:moveTo>
                  <a:lnTo>
                    <a:pt x="1387390" y="0"/>
                  </a:lnTo>
                  <a:lnTo>
                    <a:pt x="1387390" y="409606"/>
                  </a:lnTo>
                  <a:lnTo>
                    <a:pt x="0" y="409606"/>
                  </a:lnTo>
                  <a:close/>
                </a:path>
              </a:pathLst>
            </a:custGeom>
            <a:blipFill>
              <a:blip r:embed="rId4"/>
              <a:stretch>
                <a:fillRect t="-62833" b="-6283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24740" y="723900"/>
            <a:ext cx="9797819" cy="265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6"/>
              </a:lnSpc>
            </a:pPr>
            <a:r>
              <a:rPr lang="en-US" sz="10575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FEATURE</a:t>
            </a:r>
          </a:p>
          <a:p>
            <a:pPr algn="l">
              <a:lnSpc>
                <a:spcPts val="10046"/>
              </a:lnSpc>
            </a:pPr>
            <a:r>
              <a:rPr lang="en-US" sz="10575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ENGINEERING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3105" y="3337109"/>
            <a:ext cx="6303786" cy="608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One of the most important parts was feature engineering. I created </a:t>
            </a:r>
            <a:r>
              <a:rPr lang="en-US" sz="2000" b="1" u="sng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new variables</a:t>
            </a: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 including:</a:t>
            </a:r>
          </a:p>
          <a:p>
            <a:pPr marL="457200" indent="-457200" algn="just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Range</a:t>
            </a:r>
          </a:p>
          <a:p>
            <a:pPr marL="457200" indent="-457200" algn="just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Body</a:t>
            </a:r>
          </a:p>
          <a:p>
            <a:pPr marL="457200" indent="-457200" algn="just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Direction</a:t>
            </a:r>
          </a:p>
          <a:p>
            <a:pPr marL="457200" indent="-457200" algn="just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MA20 (Moving Average 20): shows the average price over the last 20 periods to identify market trend.</a:t>
            </a:r>
          </a:p>
          <a:p>
            <a:pPr marL="457200" indent="-457200" algn="just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RSI (Relative Strength Index): measures market momentum and helps identify overbought or oversold conditions.</a:t>
            </a:r>
          </a:p>
          <a:p>
            <a:pPr marL="457200" indent="-457200" algn="just">
              <a:lnSpc>
                <a:spcPts val="3999"/>
              </a:lnSpc>
              <a:buAutoNum type="alphaL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Target Variable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29800" y="6401635"/>
            <a:ext cx="6303786" cy="249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These features helped capture: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Market Volatility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Momentum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Trend Direction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Candlestick behavior (price action)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21117" y="490738"/>
            <a:ext cx="13525500" cy="1368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46"/>
              </a:lnSpc>
            </a:pPr>
            <a:r>
              <a:rPr lang="en-US" sz="10575" b="1" spc="-750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DATA VISUALISATION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0782" y="1859382"/>
            <a:ext cx="10536818" cy="2712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I created several visualizations to better understand the dataset and market behavior.</a:t>
            </a:r>
          </a:p>
          <a:p>
            <a:pPr>
              <a:lnSpc>
                <a:spcPct val="150000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These visualizations included: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XAUUSD Price Movement Overtime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Bullish versus Bearish Candle Distribution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RSI Compared to Price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Correlation Heatmap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54106" y="9790117"/>
            <a:ext cx="14379788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graphs helped identify patterns and relationships between variables.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D6399D0-6173-99B6-708D-C4A92F3E5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414" y="2435574"/>
            <a:ext cx="6025518" cy="329684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2C198AC-8B1A-43B1-03E0-FD4DEF83B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5197" y="4007496"/>
            <a:ext cx="5257800" cy="42862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0CE71DE-4C51-F7CC-B9B3-A3A33F1BE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20" y="5068575"/>
            <a:ext cx="5524500" cy="433387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6EDBFA6-89AA-E340-B858-B0EB4A49AC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8177" y="6030475"/>
            <a:ext cx="5101374" cy="32968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07136" y="1521184"/>
            <a:ext cx="7620000" cy="25929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54"/>
              </a:lnSpc>
            </a:pPr>
            <a:r>
              <a:rPr lang="en-US" sz="6899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MACHINE LEARNING</a:t>
            </a:r>
          </a:p>
          <a:p>
            <a:pPr algn="l">
              <a:lnSpc>
                <a:spcPts val="6554"/>
              </a:lnSpc>
            </a:pPr>
            <a:r>
              <a:rPr lang="en-US" sz="6899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00550" y="1120886"/>
            <a:ext cx="9727602" cy="4034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For the machine learning section, I used Logistic Regression.</a:t>
            </a:r>
          </a:p>
          <a:p>
            <a:pPr algn="just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workflow included: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Feature selection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Train/Test split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Model Training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Predictions</a:t>
            </a:r>
          </a:p>
          <a:p>
            <a:pPr marL="457200" indent="-457200" algn="just">
              <a:lnSpc>
                <a:spcPts val="3999"/>
              </a:lnSpc>
              <a:buAutoNum type="arabicPeriod"/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Performance Evaluation</a:t>
            </a:r>
          </a:p>
          <a:p>
            <a:pPr algn="just">
              <a:lnSpc>
                <a:spcPts val="3999"/>
              </a:lnSpc>
            </a:pPr>
            <a:r>
              <a:rPr lang="en-US" sz="1999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model attempted to predict if the next candle would be bullish or bearish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10D5E7-9529-F322-7CB6-8A7375602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5372100"/>
            <a:ext cx="8458200" cy="46686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343400" y="787057"/>
            <a:ext cx="10314768" cy="124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9600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CODE EXAMPLE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5323" y="8545179"/>
            <a:ext cx="6392450" cy="34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696" b="1">
                <a:solidFill>
                  <a:srgbClr val="F0F0F0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TOTAL ESTIMATED INVESTMENT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56232" y="8517458"/>
            <a:ext cx="3429138" cy="36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599">
                <a:solidFill>
                  <a:srgbClr val="F0F0F0"/>
                </a:solidFill>
                <a:latin typeface="Open Sauce"/>
                <a:ea typeface="Open Sauce"/>
                <a:cs typeface="Open Sauce"/>
                <a:sym typeface="Open Sauce"/>
              </a:rPr>
              <a:t>$7,000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4CFAEC-694F-8906-096C-9150B6118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773" y="2031628"/>
            <a:ext cx="14373951" cy="7666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464351" y="-1685644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6413656"/>
                </a:moveTo>
                <a:lnTo>
                  <a:pt x="6655681" y="6413656"/>
                </a:lnTo>
                <a:lnTo>
                  <a:pt x="6655681" y="0"/>
                </a:lnTo>
                <a:lnTo>
                  <a:pt x="0" y="0"/>
                </a:lnTo>
                <a:lnTo>
                  <a:pt x="0" y="6413656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612821" y="6234998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57603" y="495300"/>
            <a:ext cx="9715500" cy="2754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83"/>
              </a:lnSpc>
            </a:pPr>
            <a:r>
              <a:rPr lang="en-US" sz="10930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RESULTS &amp; 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7298" y="4074324"/>
            <a:ext cx="9369100" cy="4079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just">
              <a:lnSpc>
                <a:spcPts val="6599"/>
              </a:lnSpc>
            </a:pPr>
            <a:r>
              <a:rPr lang="en-US" sz="2000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The model achieved approximately 52% accuracy, which is realistic for the financial markets to predict because they are highly volatile. Overall this project demonstrated a complete data science workflow.</a:t>
            </a:r>
          </a:p>
          <a:p>
            <a:pPr lvl="1" algn="just">
              <a:lnSpc>
                <a:spcPts val="6599"/>
              </a:lnSpc>
            </a:pPr>
            <a:r>
              <a:rPr lang="en-US" sz="2000" b="1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Conclusion: </a:t>
            </a:r>
          </a:p>
          <a:p>
            <a:pPr lvl="1" algn="just">
              <a:lnSpc>
                <a:spcPts val="6599"/>
              </a:lnSpc>
            </a:pPr>
            <a:r>
              <a:rPr lang="en-US" sz="2000" dirty="0">
                <a:solidFill>
                  <a:srgbClr val="0B0027"/>
                </a:solidFill>
                <a:latin typeface="Open Sauce"/>
                <a:ea typeface="Open Sauce"/>
                <a:cs typeface="Open Sauce"/>
                <a:sym typeface="Open Sauce"/>
              </a:rPr>
              <a:t>Financial markets are difficult to predict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3EF68B8-A7CF-A57C-C9BE-08FB5778E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3394504"/>
            <a:ext cx="7868748" cy="3515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02148" y="5371640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1516160" y="-3959080"/>
            <a:ext cx="6655681" cy="6413656"/>
          </a:xfrm>
          <a:custGeom>
            <a:avLst/>
            <a:gdLst/>
            <a:ahLst/>
            <a:cxnLst/>
            <a:rect l="l" t="t" r="r" b="b"/>
            <a:pathLst>
              <a:path w="6655681" h="6413656">
                <a:moveTo>
                  <a:pt x="0" y="0"/>
                </a:moveTo>
                <a:lnTo>
                  <a:pt x="6655681" y="0"/>
                </a:lnTo>
                <a:lnTo>
                  <a:pt x="6655681" y="6413656"/>
                </a:lnTo>
                <a:lnTo>
                  <a:pt x="0" y="641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86200" y="1866900"/>
            <a:ext cx="11313964" cy="4678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44"/>
              </a:lnSpc>
            </a:pPr>
            <a:r>
              <a:rPr lang="en-US" sz="9600" b="1" dirty="0">
                <a:solidFill>
                  <a:srgbClr val="0B0027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THANK 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405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Pragmatica Bold</vt:lpstr>
      <vt:lpstr>Arial</vt:lpstr>
      <vt:lpstr>Pragmatica</vt:lpstr>
      <vt:lpstr>Open Sauce Bold</vt:lpstr>
      <vt:lpstr>Calibri</vt:lpstr>
      <vt:lpstr>Open Sauce</vt:lpstr>
      <vt:lpstr>Aptos</vt:lpstr>
      <vt:lpstr>Aptos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Black Minimalist Project  Proposal Presentation</dc:title>
  <cp:lastModifiedBy>Francesko Hasipi</cp:lastModifiedBy>
  <cp:revision>16</cp:revision>
  <dcterms:created xsi:type="dcterms:W3CDTF">2006-08-16T00:00:00Z</dcterms:created>
  <dcterms:modified xsi:type="dcterms:W3CDTF">2026-05-28T15:42:28Z</dcterms:modified>
  <dc:identifier>DAHK9uR3ToQ</dc:identifier>
</cp:coreProperties>
</file>